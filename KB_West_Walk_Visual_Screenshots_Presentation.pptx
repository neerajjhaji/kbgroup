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11094415" cy="5760720"/>
          </a:xfrm>
          <a:prstGeom prst="rect">
            <a:avLst/>
          </a:prstGeom>
          <a:solidFill>
            <a:srgbClr val="FFFFFF"/>
          </a:solidFill>
          <a:ln w="19050">
            <a:solidFill>
              <a:srgbClr val="A6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A68142"/>
                </a:solidFill>
              </a:defRPr>
            </a:pPr>
            <a:r>
              <a:t>SHREE KUNJ BIHARIJI REALTY PVT. LTD. • RERA APPROVED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0F172A"/>
                </a:solidFill>
              </a:defRPr>
            </a:pPr>
            <a:r>
              <a:t>KB WEST WALK</a:t>
            </a:r>
          </a:p>
          <a:p>
            <a:pPr>
              <a:defRPr sz="2000">
                <a:solidFill>
                  <a:srgbClr val="A68142"/>
                </a:solidFill>
              </a:defRPr>
            </a:pPr>
            <a:r>
              <a:t>Complete Website Screen Captures &amp; Visual Layout Audit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36289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475569"/>
                </a:solidFill>
              </a:defRPr>
            </a:pPr>
            <a:r>
              <a:t>📍 Address: Plot No. C-3, Ecotech-12, Greater Noida West, Uttar Pradesh 201318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📜 RERA Registration No: UPRERAPRJ422027/01/2026 | Promoter ID: UPRERAPRM414706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🏬 Building Scale: 18-Level Mixed-Use High-Street Commercial Landmark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📸 Visual Features: Embedded PNG Screenshots of All 14 Website Sections &amp; Modals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📞 Commercial Helpline: +91 828 7777 333 | WhatsApp: +91 828 7777 333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68142"/>
                </a:solidFill>
                <a:latin typeface="Arial"/>
              </a:defRPr>
            </a:pPr>
            <a:r>
              <a:t>01. HERO CANVAS &amp; NAVIGATION HEADER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Utility Ticker Bar, Official KB Logos &amp; First Fold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943600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A6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1_hero_navig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5760720" cy="360045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858000" y="1371600"/>
            <a:ext cx="4572000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A6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0" y="1554480"/>
            <a:ext cx="4206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68142"/>
                </a:solidFill>
              </a:defRPr>
            </a:pPr>
            <a:r>
              <a:t>SECTION ANALYSIS &amp; DELINEATED CONTENT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Animated Live Buyer Ticker Bar at the top of the header.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Brand Logos: Official Shree KB Group Crest (`/shree_kb_logo.png`) paired with KB West Walk Logo (`/kbww_logo.png`).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Section Anchors: Smooth scroll to Overview, Shops, Pricing, Amenities, Location, ROI, and Management.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Primary Hero Pitch: 'Every Step A Story • 5 Levels of AC Ventilated Shopping High-Street'.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Immediate CTAs: 'Book VIP Site Visit', 'Download Cost Sheet (PDF)', and 'View Floor Plans'.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68142"/>
                </a:solidFill>
                <a:latin typeface="Arial"/>
              </a:defRPr>
            </a:pPr>
            <a:r>
              <a:t>02. LEGACY METRICS COUNTER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Developer Trust &amp; Landmark Commercial Scale Stats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943600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A6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2_legacy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5760720" cy="284435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858000" y="1371600"/>
            <a:ext cx="4572000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A6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0" y="1554480"/>
            <a:ext cx="4206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68142"/>
                </a:solidFill>
              </a:defRPr>
            </a:pPr>
            <a:r>
              <a:t>SECTION ANALYSIS &amp; DELINEATED CONTENT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Developer Trust: 20+ Years shaping urban commercial landmarks across NCR since 2005.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Building Scale: 18 Levels mixed-use development with 5 levels of AC retail high-street.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RERA Approval: Registered under UPRERAPRJ422027/01/2026 with promoter ID UPRERAPRM414706.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Strategic Location: Directly at Ecotech-12, Greater Noida West, adjacent to proposed metro station.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Captive Base: Surrounded by 1,00,000+ occupied residential apartments.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68142"/>
                </a:solidFill>
                <a:latin typeface="Arial"/>
              </a:defRPr>
            </a:pPr>
            <a:r>
              <a:t>03. COMMERCIAL TYPOLOGIES &amp; SPACES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Floor-Wise Retail Shops, Anchor Outlets &amp; Studio Suites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943600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A6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3_developments_typolog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5760720" cy="748893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858000" y="1371600"/>
            <a:ext cx="4572000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A6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0" y="1554480"/>
            <a:ext cx="4206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68142"/>
                </a:solidFill>
              </a:defRPr>
            </a:pPr>
            <a:r>
              <a:t>SECTION ANALYSIS &amp; DELINEATED CONTENT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Ground Floor Boulevard Retail: ₹37,900 / Sq. Ft. (Flagship stores facing pedestrian promenade).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Lower Ground Floor: ₹25,900 / Sq. Ft. (Hypermarket, electronics &amp; convenience anchor stores).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First Floor Fashion Arcades: ₹24,900 / Sq. Ft. (Apparel, beauty salons &amp; lifestyle showrooms).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3rd to 5th Floor Hospitality: Gourmet Food Court, Rooftop Dining &amp; 5-Screen Multiplex Cinema.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6th to 18th Floor Studio Suites: Serviced studio apartments &amp; executive workspaces offering high yield.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68142"/>
                </a:solidFill>
                <a:latin typeface="Arial"/>
              </a:defRPr>
            </a:pPr>
            <a:r>
              <a:t>04. OFFICIAL COST SHEET &amp; RERA BANK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Transparent BSP Rate Table &amp; Axis Bank Collection Account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943600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A6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4_pricing_sched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5760720" cy="609676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858000" y="1371600"/>
            <a:ext cx="4572000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A6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0" y="1554480"/>
            <a:ext cx="4206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68142"/>
                </a:solidFill>
              </a:defRPr>
            </a:pPr>
            <a:r>
              <a:t>SECTION ANALYSIS &amp; DELINEATED CONTENT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Base Selling Price Schedule w.e.f. July 12, 2026*: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  - LGF: ₹ 25,900 / Sq. Ft.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  - GF Boulevard: ₹ 37,900 / Sq. Ft.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  - 1st Floor: ₹ 24,900 / Sq. Ft.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RERA Collection Bank Account Details: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  - Account Name: Shree Kunj Bihariji Realty Pvt. Ltd. Collection Account for KB West Walk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  - Bank Name: Axis Bank Ltd.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  - Account Number: 925020035796321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  - IFSC Code: UTIB0005181 (Alpha II Branch)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68142"/>
                </a:solidFill>
                <a:latin typeface="Arial"/>
              </a:defRPr>
            </a:pPr>
            <a:r>
              <a:t>05. COMMERCIAL INFRASTRUCTURE &amp; AMENITIES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6 Core Pillars of Retail, Entertainment &amp; Working Infrastructure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943600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A6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5_amenities_pill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5760720" cy="627278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858000" y="1371600"/>
            <a:ext cx="4572000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A6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0" y="1554480"/>
            <a:ext cx="4206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68142"/>
                </a:solidFill>
              </a:defRPr>
            </a:pPr>
            <a:r>
              <a:t>SECTION ANALYSIS &amp; DELINEATED CONTENT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5-Level AC Shopping Arcade: Hybrid high-street &amp; atrium format with climate management.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Multi-Screen Multiplex Cinema: State-of-the-art cinema hall on 5th floor with gourmet concessions.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Food Court &amp; Rooftop Dining: Expansive 3rd &amp; 4th floor food courts with QSR brands &amp; rooftop dining.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Serviced Studio Apartments: Premium studio suites on 6th to 18th floors crafted for high rental yields.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Double Height Glass Atrium: Skylight atrium ensuring natural light, open ventilation &amp; brand display.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Basement Parking &amp; Security: Multi-level visitor parking, 24/7 CCTV surveillance &amp; 100% power backup.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68142"/>
                </a:solidFill>
                <a:latin typeface="Arial"/>
              </a:defRPr>
            </a:pPr>
            <a:r>
              <a:t>06. BRAND PHILOSOPHY &amp; ETHOS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Purposeful Urban Development Rooted in Developer Trust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943600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A6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6_brand_philosop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5760720" cy="651281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858000" y="1371600"/>
            <a:ext cx="4572000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A6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0" y="1554480"/>
            <a:ext cx="4206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68142"/>
                </a:solidFill>
              </a:defRPr>
            </a:pPr>
            <a:r>
              <a:t>SECTION ANALYSIS &amp; DELINEATED CONTENT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Developer Lineage: Shree Kunj Bihariji Group shaping urban destinations across NCR since 2005.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Hybrid High-Street &amp; Atrium Design: Combines open high-street energy with 5 levels of AC atrium comfort.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Strategic Ecotech-12 Corridor: Located directly at Ecotech-12 adjacent to dense residential sectors.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Mixed-Use Synergy: Seamlessly integrates retail, food courts, multiplex cinema, and studio residences.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Delivered Track Record: KB Mart (Knowledge Park III) and KB Complex (Alpha-2, Greater Noida).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68142"/>
                </a:solidFill>
                <a:latin typeface="Arial"/>
              </a:defRPr>
            </a:pPr>
            <a:r>
              <a:t>07. PROPERTY FINDER &amp; EMI CALCULATOR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Interactive Commercial Space Search &amp; Bank Loan Slider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943600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A6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7_property_finder_em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5760720" cy="650881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858000" y="1371600"/>
            <a:ext cx="4572000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A6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0" y="1554480"/>
            <a:ext cx="4206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68142"/>
                </a:solidFill>
              </a:defRPr>
            </a:pPr>
            <a:r>
              <a:t>SECTION ANALYSIS &amp; DELINEATED CONTENT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Property Finder Component: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  - Category Selector: Retail Shops, Food Court/Cinema, Studio Suites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  - Budget Range Selector: Up to ₹50L, ₹50L-₹1Cr, ₹1Cr-₹3Cr, ₹3Cr+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  - View Orientation Selector: Atrium Facing, Boulevard Facing, Promenade View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Real-Time Loan EMI Calculator: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  - Property Price Range Slider (₹29.6 L to ₹6.00 Cr)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  - Down Payment Percentage Selector (10% to 50%)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  - Tenure Selector (10, 15, 20, 25, 30 Years) &amp; Interest Rate Input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  - Live Monthly EMI Output Calculation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68142"/>
                </a:solidFill>
                <a:latin typeface="Arial"/>
              </a:defRPr>
            </a:pPr>
            <a:r>
              <a:t>08. LOCATION ADVANTAGE &amp; CONNECTIVITY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Plot C-3, Ecotech-12 Distance Benchmarks &amp; Transit Hubs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943600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A6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8_location_conne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5760720" cy="57647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858000" y="1371600"/>
            <a:ext cx="4572000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A6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0" y="1554480"/>
            <a:ext cx="4206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68142"/>
                </a:solidFill>
              </a:defRPr>
            </a:pPr>
            <a:r>
              <a:t>SECTION ANALYSIS &amp; DELINEATED CONTENT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Proposed Ecotech-12 Metro Station: Walking Distance (100 Meters)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Char Murti / Gaur Chowk / Ek Murti: 5 Mins (2.5 Km)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Crossings Republik Residential Hub: 5 Mins (3.0 Km)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Noida-Greater Noida Expressway &amp; NH-24: 10 Mins (6.0 Km)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Fortis &amp; Max Super Speciality Hospital: 10 Mins (7.5 Km)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Noida Sector-52 Metro Station: 15 Mins (10.0 Km)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Hindon Regional Airport: 25 Mins (25.0 Km)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Jewar International Airport (Noida Int.): 45 Mins (48.0 Km)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68142"/>
                </a:solidFill>
                <a:latin typeface="Arial"/>
              </a:defRPr>
            </a:pPr>
            <a:r>
              <a:t>09. INVESTMENT ROI &amp; GROWTH YIELD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Capital Appreciation Benchmarks &amp; Rental Yield Projections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943600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A6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9_investment_ro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5760720" cy="294036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858000" y="1371600"/>
            <a:ext cx="4572000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A6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0" y="1554480"/>
            <a:ext cx="4206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68142"/>
                </a:solidFill>
              </a:defRPr>
            </a:pPr>
            <a:r>
              <a:t>SECTION ANALYSIS &amp; DELINEATED CONTENT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Commercial Rental Yield: 7.5% – 9.2% P.A. (High yield corridor in Greater Noida West).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YoY Capital Appreciation: +21.2% YoY Growth (Ranked among top 3 retail appreciation hubs).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Cumulative 3-Year Appreciation: +38% to +48% projected growth upon metro &amp; Jewar airport launch.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Ecotech-12 Locality Rating: 92 / 100 (4.9/5 Stars) by leading real estate portals.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Captive Footfall: Surrounded by 1,00,000+ occupied residential apartments.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68142"/>
                </a:solidFill>
                <a:latin typeface="Arial"/>
              </a:defRPr>
            </a:pPr>
            <a:r>
              <a:t>10. DEDICATED MALL &amp; FACILITY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4 Pillars of Commercial Mall Management &amp; Tenant Support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943600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A6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0_mall_manag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5760720" cy="38204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858000" y="1371600"/>
            <a:ext cx="4572000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A6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0" y="1554480"/>
            <a:ext cx="4206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68142"/>
                </a:solidFill>
              </a:defRPr>
            </a:pPr>
            <a:r>
              <a:t>SECTION ANALYSIS &amp; DELINEATED CONTENT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Dedicated Retail Concierge: 24/7 commercial desk assistance for store owners &amp; corporate tenants.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Professional Mall Management: Comprehensive facility upkeep, central HVAC climate maintenance &amp; security.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Multi-Level Valet &amp; VIP Parking: Seamless valet arrival, automated parking guidance &amp; executive slots.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Leasing &amp; Brand Support: Dedicated assistance for brand tie-ups, retail leasing &amp; rental management.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68142"/>
                </a:solidFill>
                <a:latin typeface="Arial"/>
              </a:defRPr>
            </a:pPr>
            <a:r>
              <a:t>11. VIP SITE VISIT OVERLAY MODAL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On-Site Chauffeur Booking, Security Captcha &amp; VIP Pass Generator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943600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A6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odal_vip_site_vis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5760720" cy="360045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858000" y="1371600"/>
            <a:ext cx="4572000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A6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0" y="1554480"/>
            <a:ext cx="4206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68142"/>
                </a:solidFill>
              </a:defRPr>
            </a:pPr>
            <a:r>
              <a:t>SECTION ANALYSIS &amp; DELINEATED CONTENT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Interactive Modal Trigger: 'BOOK VIP SITE VISIT' buttons across the site.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Chauffeur Pickup Option: Option to request a complimentary luxury AC chauffeur pickup.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Preferred Slot Selection: Date &amp; time slot picker for guided walkthroughs at Plot C-3, Ecotech-12.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Captcha Security: Interactive math security challenge ensuring real buyer leads.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Instant VIP Pass Generation: Generates downloadable VIP Pass upon submission.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68142"/>
                </a:solidFill>
                <a:latin typeface="Arial"/>
              </a:defRPr>
            </a:pPr>
            <a:r>
              <a:t>12. ARCHITECTURAL FLOOR PLANS MODAL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Interactive Floor Blueprint Swapper &amp; Technical Unit Specs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943600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A6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odal_floor_pla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5760720" cy="360045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858000" y="1371600"/>
            <a:ext cx="4572000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A6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0" y="1554480"/>
            <a:ext cx="4206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68142"/>
                </a:solidFill>
              </a:defRPr>
            </a:pPr>
            <a:r>
              <a:t>SECTION ANALYSIS &amp; DELINEATED CONTENT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Interactive Modal Trigger: 'VIEW FLOOR PLANS' buttons across typologies.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Floor Blueprint Tab Swapper: Switch between Lower Ground, Ground Floor, First Floor, and Studio Suites.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High-Resolution Schematic Renderings: Shows unit dimensions, double height facades &amp; atrium openings.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Technical Specifications: Highlights super area, carpet area, ceiling heights, and loading hoists.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Download Blueprint CTA: Instant PDF floor plan download.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68142"/>
                </a:solidFill>
                <a:latin typeface="Arial"/>
              </a:defRPr>
            </a:pPr>
            <a:r>
              <a:t>13. BUYER LEADS VAULT &amp; CRM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100-Point Scoring, Local Vault Storage &amp; One-Click CSV Export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943600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A6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odal_buyer_leads_v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5760720" cy="360045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858000" y="1371600"/>
            <a:ext cx="4572000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A6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0" y="1554480"/>
            <a:ext cx="4206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68142"/>
                </a:solidFill>
              </a:defRPr>
            </a:pPr>
            <a:r>
              <a:t>SECTION ANALYSIS &amp; DELINEATED CONTENT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Global Shortcut Trigger: Ctrl + Shift + L or Cmd + Shift + L shortcut.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Local Vault Persistence: Secure lead persistence in `localStorage` (`kb_west_walk_leads_vault`).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100-Point Quality Scoring: Deducts 50 pts for temp emails/dummy phones; adds 15 pts for chauffeur requests.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Buyer Tiering: VIP Commercial Investor (90+), High Intent Buyer (70+), Standard Prospect (&lt;70).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One-Click CSV Export: Instant CSV download via `exportLeadsToCSV()` for sales team dispatch.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11094415" cy="5760720"/>
          </a:xfrm>
          <a:prstGeom prst="rect">
            <a:avLst/>
          </a:prstGeom>
          <a:solidFill>
            <a:srgbClr val="FFFFFF"/>
          </a:solidFill>
          <a:ln w="19050">
            <a:solidFill>
              <a:srgbClr val="A6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A68142"/>
                </a:solidFill>
              </a:defRPr>
            </a:pPr>
            <a:r>
              <a:t>PORTAL AUDIT &amp; VISUAL PRESENTATION COMPLETE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✔ Embedded High-Res Screenshots: All 14 website sections &amp; modal overlays captured and embedded.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✔ Official KB Branding: Fixed logo presentation using official Shree KB Group Crest &amp; KB West Walk brand logos.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✔ RERA Compliance Verified: Registration No UPRERAPRJ422027/01/2026 &amp; Axis Bank Collection Account details.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✔ Live Interactive Server: Accessible at http://localhost:3000/ with Vite 8 &amp; React 19.</a:t>
            </a:r>
          </a:p>
          <a:p>
            <a:br/>
            <a:pPr>
              <a:defRPr sz="1300">
                <a:solidFill>
                  <a:srgbClr val="0F172A"/>
                </a:solidFill>
              </a:defRPr>
            </a:pPr>
            <a:r>
              <a:t>📍 SITE OFFICE: Plot No. C-3, Ecotech-12, Greater Noida West - 201318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🏢 CORPORATE OFFICE: FF-39, First Floor, KB Complex, Plot No. LS-1, Alpha-2, Greater Noida, U.P. 201310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📞 HELPLINE: +91 828 7777 333 | WHATSAPP: +91 828 7777 333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