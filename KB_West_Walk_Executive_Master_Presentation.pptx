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68142"/>
                </a:solidFill>
              </a:defRPr>
            </a:pPr>
            <a:r>
              <a:t>SHREE KUNJ BIHARIJI REALTY PVT. LTD. • RERA APPROVED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0F172A"/>
                </a:solidFill>
                <a:latin typeface="Georgia"/>
              </a:defRPr>
            </a:pPr>
            <a:r>
              <a:t>KB WEST WALK</a:t>
            </a:r>
          </a:p>
          <a:p>
            <a:pPr>
              <a:defRPr sz="2000">
                <a:solidFill>
                  <a:srgbClr val="A68142"/>
                </a:solidFill>
              </a:defRPr>
            </a:pPr>
            <a:r>
              <a:t>Commercial High-Street Master Portal &amp; Visual Section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6289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</a:defRPr>
            </a:pPr>
            <a:r>
              <a:t>📍 Address: Plot No. C-3, Ecotech-12, Greater Noida West, Uttar Pradesh 201318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</a:defRPr>
            </a:pPr>
            <a:r>
              <a:t>📜 RERA Registration No: UPRERAPRJ422027/01/2026 | Promoter ID: UPRERAPRM414706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</a:defRPr>
            </a:pPr>
            <a:r>
              <a:t>🏬 Building Scale: 18-Level Mixed-Use Commercial High-Street &amp; Studio Suites Landmark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</a:defRPr>
            </a:pPr>
            <a:r>
              <a:t>📸 Visual Presentation: Complete 16-Section Screenshot Walkthrough &amp; Features Breakdown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</a:defRPr>
            </a:pPr>
            <a:r>
              <a:t>📞 Commercial Helpline: +91 828 7777 333 | Official WhatsApp: +91 828 7777 333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  <a:latin typeface="Arial"/>
              </a:defRPr>
            </a:pPr>
            <a:r>
              <a:t>01. HERO CANVAS &amp; NAVIGATION HEADER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Top Header Branding, Live Video Background &amp; Primary Pitch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21792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_hero_navig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6035040" cy="37719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132320" y="1371600"/>
            <a:ext cx="4327855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554480"/>
            <a:ext cx="39620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68142"/>
                </a:solidFill>
                <a:latin typeface="Arial"/>
              </a:defRPr>
            </a:pPr>
            <a:r>
              <a:t>SECTION DETAILS &amp; FEATURE BREAKDOWN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Live Announcement Ticker: Top utility bar displaying real-time buyer interest &amp; site visit alerts.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Builder Company Logo: Official Shree Kunj Bihariji Group Crest (`/shree_kb_logo.png`) anchored in top navigation badge.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Project Brand Logo: KB West Walk Logo (`/kbww_logo.png`) prominently rendered at the top of the hero fold.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Background Video Playback: High-contrast high-street footage with quick audio control button.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Key Tagline: 'Every Step A Story • 5 Levels of AC Ventilated Shopping High-Street'.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Direct CTAs: Book VIP Site Visit, Download Cost Sheet (PDF), and View Floor Plans.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  <a:latin typeface="Arial"/>
              </a:defRPr>
            </a:pPr>
            <a:r>
              <a:t>02. LEGACY METRICS &amp; DEVELOPER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20+ Years Legacy Stats, RERA Approvals &amp; Building Specs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21792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2_legacy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6035040" cy="297980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132320" y="1371600"/>
            <a:ext cx="4327855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554480"/>
            <a:ext cx="39620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68142"/>
                </a:solidFill>
                <a:latin typeface="Arial"/>
              </a:defRPr>
            </a:pPr>
            <a:r>
              <a:t>SECTION DETAILS &amp; FEATURE BREAKDOWN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Developer Track Record: 20+ Years delivering urban commercial landmarks across NCR since 2005.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Commercial Scale: 18-level mixed-use development with 5 levels of AC retail high-street.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Verified RERA Approval: Registered under UPRERAPRJ422027/01/2026 with promoter ID UPRERAPRM414706.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Ecotech-12 Hub: Directly located at Plot C-3 adjacent to proposed metro station.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Captive Audience: Surrounded by 1,00,000+ occupied residential apartments.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  <a:latin typeface="Arial"/>
              </a:defRPr>
            </a:pPr>
            <a:r>
              <a:t>03. COMMERCIAL TYPOLOGIES &amp; SPACES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Retail Shops, Food Court, Multiplex &amp; Studio Suites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21792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3_developments_typolo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6035040" cy="784555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132320" y="1371600"/>
            <a:ext cx="4327855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554480"/>
            <a:ext cx="39620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68142"/>
                </a:solidFill>
                <a:latin typeface="Arial"/>
              </a:defRPr>
            </a:pPr>
            <a:r>
              <a:t>SECTION DETAILS &amp; FEATURE BREAKDOWN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LGF Hypermarket &amp; Retail: ₹25,900 / Sq. Ft. (Hypermarket, electronics &amp; anchor outlets).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Ground Floor Boulevard Retail: ₹37,900 / Sq. Ft. (Flagship stores facing main pedestrian promenade).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First Floor Fashion Arcades: ₹24,900 / Sq. Ft. (Apparel, beauty salons &amp; lifestyle showrooms).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3rd to 5th Floor Hospitality: Gourmet Food Court, Rooftop Dining &amp; 5-Screen Multiplex Cinema.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6th to 18th Floor Studio Suites: Serviced studio apartments &amp; executive workspaces offering high yield.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  <a:latin typeface="Arial"/>
              </a:defRPr>
            </a:pPr>
            <a:r>
              <a:t>04. OFFICIAL COST SHEET &amp; RERA BANK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Transparent BSP Rate Schedule &amp; Axis Bank RERA Account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21792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4_pricing_sche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6035040" cy="638708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132320" y="1371600"/>
            <a:ext cx="4327855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554480"/>
            <a:ext cx="39620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68142"/>
                </a:solidFill>
                <a:latin typeface="Arial"/>
              </a:defRPr>
            </a:pPr>
            <a:r>
              <a:t>SECTION DETAILS &amp; FEATURE BREAKDOWN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Base Selling Price Schedule (w.e.f. July 12, 2026):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  - Lower Ground Floor: ₹ 25,900 / Sq. Ft.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  - Ground Floor Boulevard: ₹ 37,900 / Sq. Ft.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  - First Floor Arcades: ₹ 24,900 / Sq. Ft.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RERA Collection Bank Account Details: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  - Account Name: Shree Kunj Bihariji Realty Pvt. Ltd. Collection Account for KB West Walk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  - Bank Name: Axis Bank Ltd.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  - Account Number: 925020035796321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  - IFSC Code: UTIB0005181 (Alpha II Branch)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  <a:latin typeface="Arial"/>
              </a:defRPr>
            </a:pPr>
            <a:r>
              <a:t>05. COMMERCIAL INFRASTRUCTURE &amp; AMENITIES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6 Pillars of Retail, Entertainment &amp; Working Facilities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21792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5_amenities_pill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6035040" cy="65714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132320" y="1371600"/>
            <a:ext cx="4327855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554480"/>
            <a:ext cx="39620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68142"/>
                </a:solidFill>
                <a:latin typeface="Arial"/>
              </a:defRPr>
            </a:pPr>
            <a:r>
              <a:t>SECTION DETAILS &amp; FEATURE BREAKDOWN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5-Level AC Shopping High-Street: Hybrid high-street &amp; atrium format with climate control.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Multi-Screen Multiplex Cinema: Modern cinema hall on 5th floor with gourmet concessions.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Food Court &amp; Rooftop Dining: Expansive 3rd &amp; 4th floor food courts with QSR brands &amp; rooftop dining.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Serviced Studio Apartments: Premium studio suites on 6th to 18th floors crafted for high rental yields.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Double Height Glass Atrium: Skylight atrium ensuring natural light &amp; brand visibility.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Multi-Level Parking &amp; Security: Multi-level parking, 24/7 CCTV surveillance &amp; 100% power backup.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  <a:latin typeface="Arial"/>
              </a:defRPr>
            </a:pPr>
            <a:r>
              <a:t>06. BRAND PHILOSOPHY &amp; CREDAI AFFILIATION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Developer Legacy &amp; CREDAI Member Industry Trust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21792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6_brand_philosop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6035040" cy="688162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132320" y="1371600"/>
            <a:ext cx="4327855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554480"/>
            <a:ext cx="39620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68142"/>
                </a:solidFill>
                <a:latin typeface="Arial"/>
              </a:defRPr>
            </a:pPr>
            <a:r>
              <a:t>SECTION DETAILS &amp; FEATURE BREAKDOWN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Developer Lineage: Shree Kunj Bihariji Group shaping urban destinations across NCR since 2005.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CREDAI NCR Affiliation: Official CREDAI logo badge (`/credai_official_logo.png`) highlighting industry membership.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Hybrid Architecture: Blends open-air high-street energy with 5 levels of AC atrium comfort.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Strategic Ecotech-12 Location: Situated directly at Ecotech-12 adjacent to dense residential sectors.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Delivered Portfolio: KB Mart (Knowledge Park III) and KB Complex (Alpha-2, Greater Noida).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  <a:latin typeface="Arial"/>
              </a:defRPr>
            </a:pPr>
            <a:r>
              <a:t>07. PROPERTY FINDER &amp; LOAN EMI CALCULATOR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Interactive Space Search &amp; Bank Loan Slider Tool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21792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7_property_finder_em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6035040" cy="681875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132320" y="1371600"/>
            <a:ext cx="4327855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554480"/>
            <a:ext cx="39620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68142"/>
                </a:solidFill>
                <a:latin typeface="Arial"/>
              </a:defRPr>
            </a:pPr>
            <a:r>
              <a:t>SECTION DETAILS &amp; FEATURE BREAKDOWN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Interactive Property Finder: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  - Category Selector: Retail Shops, Food Court/Cinema, Studio Suites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  - Budget Range Filter: Up to ₹50L, ₹50L-₹1Cr, ₹1Cr-₹3Cr, ₹3Cr+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  - Orientation Filter: Atrium Facing, Boulevard Facing, Main Road View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Real-Time Loan EMI Calculator: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  - Property Price Slider: ₹29.6 L to ₹6.00 Cr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  - Down Payment Percentage: 10% to 50%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  - Loan Tenure: 10 to 30 Years &amp; Interest Rate Input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  - Live Monthly EMI Breakdown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  <a:latin typeface="Arial"/>
              </a:defRPr>
            </a:pPr>
            <a:r>
              <a:t>08. LOCATION ADVANTAGE &amp; CONNECTIVITY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Plot C-3, Ecotech-12 Distance Benchmarks &amp; Transit Hubs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21792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8_location_conne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6035040" cy="603923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132320" y="1371600"/>
            <a:ext cx="4327855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554480"/>
            <a:ext cx="39620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68142"/>
                </a:solidFill>
                <a:latin typeface="Arial"/>
              </a:defRPr>
            </a:pPr>
            <a:r>
              <a:t>SECTION DETAILS &amp; FEATURE BREAKDOWN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Proposed Ecotech-12 Metro Station: Walking Distance (100 Meters)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Char Murti / Gaur Chowk / Ek Murti: 5 Mins (2.5 Km)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Crossings Republik Residential Hub: 5 Mins (3.0 Km)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Noida-Greater Noida Expressway &amp; NH-24: 10 Mins (6.0 Km)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Fortis &amp; Max Super Speciality Hospital: 10 Mins (7.5 Km)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Noida Sector-52 Metro Station: 15 Mins (10.0 Km)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Hindon Regional Airport: 25 Mins (25.0 Km)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Jewar International Airport (Noida Int.): 45 Mins (48.0 Km)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  <a:latin typeface="Arial"/>
              </a:defRPr>
            </a:pPr>
            <a:r>
              <a:t>09. INVESTMENT ROI &amp; GROWTH YIELD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Rental Yield Projections &amp; Capital Appreciation Trends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21792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9_investment_r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6035040" cy="308038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132320" y="1371600"/>
            <a:ext cx="4327855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554480"/>
            <a:ext cx="39620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68142"/>
                </a:solidFill>
                <a:latin typeface="Arial"/>
              </a:defRPr>
            </a:pPr>
            <a:r>
              <a:t>SECTION DETAILS &amp; FEATURE BREAKDOWN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Commercial Rental Yield: 7.5% – 9.2% P.A. (Top performing retail corridor in Greater Noida West).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YoY Capital Appreciation: +21.2% YoY Growth in Ecotech-12 commercial property values.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Cumulative 3-Year Projection: +38% to +48% growth upon metro line &amp; Jewar airport commissioning.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Locality Benchmark Rating: 92 / 100 (4.9/5 Stars) on leading real estate portals.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Immediate Footfall Base: Supported by 1,00,000+ nearby residential families.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  <a:latin typeface="Arial"/>
              </a:defRPr>
            </a:pPr>
            <a:r>
              <a:t>10. DEDICATED MALL &amp; FACILITY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4 Pillars of Commercial Mall Management &amp;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21792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0_mall_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6035040" cy="400240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132320" y="1371600"/>
            <a:ext cx="4327855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554480"/>
            <a:ext cx="39620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68142"/>
                </a:solidFill>
                <a:latin typeface="Arial"/>
              </a:defRPr>
            </a:pPr>
            <a:r>
              <a:t>SECTION DETAILS &amp; FEATURE BREAKDOWN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Dedicated Retail Concierge: 24/7 commercial desk assistance for store owners &amp; corporate tenants.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Professional Mall Management: Comprehensive facility upkeep, central HVAC climate maintenance &amp; security.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Multi-Level Valet &amp; VIP Parking: Smooth valet arrival, automated parking guidance &amp; executive slots.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Leasing &amp; Brand Support: Dedicated team for brand tie-ups, retail leasing &amp; rental management.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  <a:latin typeface="Arial"/>
              </a:defRPr>
            </a:pPr>
            <a:r>
              <a:t>11. PRESS COVERAGE &amp; INDUSTRY ACCOLADES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Media Coverage &amp; Real Estate Excellence Recognitions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21792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1_press_accola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6035040" cy="26990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132320" y="1371600"/>
            <a:ext cx="4327855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554480"/>
            <a:ext cx="39620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68142"/>
                </a:solidFill>
                <a:latin typeface="Arial"/>
              </a:defRPr>
            </a:pPr>
            <a:r>
              <a:t>SECTION DETAILS &amp; FEATURE BREAKDOWN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Media Highlights: Featured in Economic Times, Financial Express, and Business Standard.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Best High-Street Project Award: Recognized for innovative hybrid retail &amp; atrium design in Greater Noida West.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Investor Confidence Badge: Highlighted as top commercial investment destination for 2026.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Transparent RERA Governance: Praised for transparent RERA account operations &amp; timely milestone delivery.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  <a:latin typeface="Arial"/>
              </a:defRPr>
            </a:pPr>
            <a:r>
              <a:t>12. 4-STEP BUYER JOURNEY &amp; ASSISTANCE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From Space Discovery to Possession &amp; Rental Yield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21792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2_buyer_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6035040" cy="350786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132320" y="1371600"/>
            <a:ext cx="4327855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554480"/>
            <a:ext cx="39620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68142"/>
                </a:solidFill>
                <a:latin typeface="Arial"/>
              </a:defRPr>
            </a:pPr>
            <a:r>
              <a:t>SECTION DETAILS &amp; FEATURE BREAKDOWN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Step 1: Space Discovery &amp; Virtual Tour (Explore floor plans, pricing &amp; 360° VR walkthroughs).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Step 2: Guided VIP Site Visit (On-site inspection with complimentary luxury AC chauffeur pickup).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Step 3: Transparent Unit Allotment (Direct booking with Axis Bank RERA Collection account).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Step 4: Possession &amp; Leasing Support (Handover assistance, tenant onboarding &amp; yield activation).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  <a:latin typeface="Arial"/>
              </a:defRPr>
            </a:pPr>
            <a:r>
              <a:t>13. COMPREHENSIVE FOOTER &amp; CONTACT DESK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Separate Builder &amp; Project Logos, RERA Badge &amp; Contact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21792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3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6035040" cy="269062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132320" y="1371600"/>
            <a:ext cx="4327855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554480"/>
            <a:ext cx="39620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68142"/>
                </a:solidFill>
                <a:latin typeface="Arial"/>
              </a:defRPr>
            </a:pPr>
            <a:r>
              <a:t>SECTION DETAILS &amp; FEATURE BREAKDOWN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Standalone Logo Cards: Builder Company Logo (`/shree_kb_logo.png`) and Project Logo (`/kbww_logo.png`) displayed separately.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Official CREDAI Logo Badge: Prominently featured under official details for industry verification.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Complete Address Details: Site office at Plot C-3, Ecotech-12 &amp; Corporate office at Alpha-2, Greater Noida.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Direct Helpline: +91 828 7777 333 | Email: sales@shreekunjbihariji.com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Disclaimers: Full RERA registration details &amp; legal disclaimer text.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  <a:latin typeface="Arial"/>
              </a:defRPr>
            </a:pPr>
            <a:r>
              <a:t>14. VIP SITE VISIT OVERLAY MODAL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On-Site Chauffeur Booking, Math Captcha &amp; VIP Pass Generator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21792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odal_vip_site_vis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6035040" cy="37719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132320" y="1371600"/>
            <a:ext cx="4327855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554480"/>
            <a:ext cx="39620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68142"/>
                </a:solidFill>
                <a:latin typeface="Arial"/>
              </a:defRPr>
            </a:pPr>
            <a:r>
              <a:t>SECTION DETAILS &amp; FEATURE BREAKDOWN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Interactive Modal Trigger: 'BOOK VIP SITE VISIT' buttons placed across all sections.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Chauffeur Pickup Option: Request a complimentary luxury AC chauffeur pickup.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Preferred Slot Selection: Date &amp; time slot picker for guided walkthroughs at Plot C-3, Ecotech-12.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Captcha Security: Interactive math security challenge ensuring genuine buyer leads.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Instant VIP Pass Generation: Generates a downloadable digital VIP Pass upon submission.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  <a:latin typeface="Arial"/>
              </a:defRPr>
            </a:pPr>
            <a:r>
              <a:t>15. ARCHITECTURAL FLOOR PLANS MODAL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Interactive Floor Blueprint Swapper &amp; Technical Unit Specs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21792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odal_floor_pl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6035040" cy="37719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132320" y="1371600"/>
            <a:ext cx="4327855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554480"/>
            <a:ext cx="39620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68142"/>
                </a:solidFill>
                <a:latin typeface="Arial"/>
              </a:defRPr>
            </a:pPr>
            <a:r>
              <a:t>SECTION DETAILS &amp; FEATURE BREAKDOWN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Interactive Modal Trigger: 'VIEW FLOOR PLANS' buttons across typologies.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Floor Blueprint Tab Swapper: Switch between Lower Ground, Ground Floor, First Floor, and Studio Suites.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High-Resolution Schematic Renderings: Shows unit dimensions, double height facades &amp; atrium openings.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Technical Specifications: Highlights super area, carpet area, ceiling heights, and loading hoists.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Download Blueprint CTA: Instant PDF floor plan download.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  <a:latin typeface="Arial"/>
              </a:defRPr>
            </a:pPr>
            <a:r>
              <a:t>16. BUYER LEADS VAULT &amp; CRM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100-Point Scoring, Local Storage Vault &amp; CSV Export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21792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odal_buyer_leads_v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6035040" cy="37719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132320" y="1371600"/>
            <a:ext cx="4327855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554480"/>
            <a:ext cx="39620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68142"/>
                </a:solidFill>
                <a:latin typeface="Arial"/>
              </a:defRPr>
            </a:pPr>
            <a:r>
              <a:t>SECTION DETAILS &amp; FEATURE BREAKDOWN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Global Shortcut Trigger: Ctrl + Shift + L or Cmd + Shift + L keyboard shortcut.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Local Vault Storage: Persistent client-side storage in `localStorage` (`kb_west_walk_leads_vault`).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100-Point Quality Scoring: Deducts 50 pts for temp emails/phones; adds 15 pts for chauffeur requests.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Buyer Tiering: VIP Commercial Investor (90+), High Intent Buyer (70+), Standard Prospect (&lt;70).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One-Click CSV Export: Instant CSV download via `exportLeadsToCSV()` for sales team dispatch.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A68142"/>
                </a:solidFill>
              </a:defRPr>
            </a:pPr>
            <a:r>
              <a:t>PORTAL AUDIT &amp; VISUAL PRESENTATION COMPLETE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✔ 16 High-Resolution Section Screenshots: All website sections &amp; modal overlays captured and embedded.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✔ Official KB Branding: Fixed company logo using official Shree KB Group Crest &amp; KB West Walk brand logos.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✔ Official CREDAI Logo: Integrated official dark green &amp; red CREDAI crest badge in Philosophy &amp; Footer.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✔ RERA Compliance Verified: Registration No UPRERAPRJ422027/01/2026 &amp; Axis Bank Collection Account details.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✔ Live Interactive Server: Running smoothly at http://localhost:3000/ with React 19 &amp; Vite 8.</a:t>
            </a:r>
          </a:p>
          <a:p>
            <a:br/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📍 SITE OFFICE: Plot No. C-3, Ecotech-12, Greater Noida West - 201318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🏢 CORPORATE OFFICE: FF-39, First Floor, KB Complex, Plot No. LS-1, Alpha-2, Greater Noida, U.P. 201310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📞 HELPLINE: +91 828 7777 333 | WHATSAPP: +91 828 7777 333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