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68142"/>
                </a:solidFill>
              </a:defRPr>
            </a:pPr>
            <a:r>
              <a:t>SHREE KUNJ BIHARIJI REALTY PVT. LTD. • RERA APPROVED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F172A"/>
                </a:solidFill>
              </a:defRPr>
            </a:pPr>
            <a:r>
              <a:t>KB WEST WALK</a:t>
            </a:r>
          </a:p>
          <a:p>
            <a:pPr>
              <a:defRPr sz="2000">
                <a:solidFill>
                  <a:srgbClr val="A68142"/>
                </a:solidFill>
              </a:defRPr>
            </a:pPr>
            <a:r>
              <a:t>Complete Digital Website Architecture, Content Layout &amp; Commercial Sales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628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475569"/>
                </a:solidFill>
              </a:defRPr>
            </a:pPr>
            <a:r>
              <a:t>📍 Address: Plot No. C-3, Ecotech-12, Greater Noida West, Uttar Pradesh 201318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📜 RERA Reg No: UPRERAPRJ422027/01/2026 | RERA Promoter ID: UPRERAPRM414706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🏬 Development: 18-Level Mixed-Use Commercial Landmark (5 Levels AC High-Street + Studio Suites)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📞 Commercial Helpline: +91 828 7777 333 | WhatsApp: +91 828 7777 333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🌐 Website Presentation: Full Interactive UI/UX, Pricing Sheet, AI Concierge &amp; CRM Vault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EXECUTIVE OVERVIEW &amp; PROJECT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Commercial Identity &amp; Landmark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57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</a:defRPr>
            </a:pPr>
            <a:r>
              <a:t>PROJECT IDENTITY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KB West Walk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Shree Kunj Bihariji Realty Pvt. Ltd. (Shree KB Group)</a:t>
            </a:r>
            <a:br/>
            <a:r>
              <a:t>Official RERA Reg: UPRERAPRJ422027/01/2026</a:t>
            </a:r>
            <a:br/>
            <a:r>
              <a:t>Launch Date: January 07,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463040"/>
            <a:ext cx="5257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4592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</a:defRPr>
            </a:pPr>
            <a:r>
              <a:t>LOCATION VANTAGE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Ecotech-12 Hub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Plot No. C-3, Ecotech-12, Greater Noida West</a:t>
            </a:r>
            <a:br/>
            <a:r>
              <a:t>Directly at Proposed Ecotech-12 Metro Station (100M)</a:t>
            </a:r>
            <a:br/>
            <a:r>
              <a:t>Surrounded by 1,00,000+ Residential Apartments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57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</a:defRPr>
            </a:pPr>
            <a:r>
              <a:t>BUILDING SCALE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18-Level Mixed-Use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5 Levels AC Ventilated High-Street Shopping Arcade</a:t>
            </a:r>
            <a:br/>
            <a:r>
              <a:t>3rd, 4th &amp; 5th Floors: Food Court &amp; 5-Screen Cinema</a:t>
            </a:r>
            <a:br/>
            <a:r>
              <a:t>6th to 18th Floors: Serviced Studio Suites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840480"/>
            <a:ext cx="5257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</a:defRPr>
            </a:pPr>
            <a:r>
              <a:t>FINANCIAL PRICING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Starting ₹24,900/sqft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Lower Ground Floor: ₹25,900 / Sq. Ft.</a:t>
            </a:r>
            <a:br/>
            <a:r>
              <a:t>Ground Floor Boulevard: ₹37,900 / Sq. Ft.</a:t>
            </a:r>
            <a:br/>
            <a:r>
              <a:t>First Floor Fashion: ₹24,900 / Sq. 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DEVELOPER LEGACY &amp; DELIVERED LANDMARKS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20+ Years of Urban Excellence Across NCR (Shree KB Group)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4290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FLAGSHIP ONGOING DEVELOPMENT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KB West Walk</a:t>
            </a:r>
          </a:p>
          <a:p>
            <a:pPr>
              <a:defRPr sz="1200">
                <a:solidFill>
                  <a:srgbClr val="A68142"/>
                </a:solidFill>
              </a:defRPr>
            </a:pPr>
            <a:r>
              <a:t>Ecotech-12, Gr. Noida West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18-Level High-Street Retail, Food Court, Cinema &amp; Serviced Studio Suites. RERA Reg No: UPRERAPRJ422027/01/2026.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554480"/>
            <a:ext cx="34290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73736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DELIVERED COMMERCIAL LANDMARK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KB Mart</a:t>
            </a:r>
          </a:p>
          <a:p>
            <a:pPr>
              <a:defRPr sz="1200">
                <a:solidFill>
                  <a:srgbClr val="A68142"/>
                </a:solidFill>
              </a:defRPr>
            </a:pPr>
            <a:r>
              <a:t>Knowledge Park III, Gr. Noida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Premier commercial &amp; retail hub serving Knowledge Park institutional corridor with high rental yield.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1554480"/>
            <a:ext cx="34290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73736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THRIVING OPERATIONAL CENTRE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KB Complex</a:t>
            </a:r>
          </a:p>
          <a:p>
            <a:pPr>
              <a:defRPr sz="1200">
                <a:solidFill>
                  <a:srgbClr val="A68142"/>
                </a:solidFill>
              </a:defRPr>
            </a:pPr>
            <a:r>
              <a:t>Alpha-2, Greater Noida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Established corporate &amp; commercial plaza at Alpha-2 commercial sector, housing corporate site office.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WEBSITE DESIGN SYSTEM &amp; VISUAL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Color Palette Tokens, Typography &amp; Glassmorphic UI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011680" cy="1371600"/>
          </a:xfrm>
          <a:prstGeom prst="rect">
            <a:avLst/>
          </a:prstGeom>
          <a:solidFill>
            <a:srgbClr val="FAF8F5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Obsidian Dark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#0B0E14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463040"/>
            <a:ext cx="20116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600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Deep Slate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#0F141D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463040"/>
            <a:ext cx="2011680" cy="1371600"/>
          </a:xfrm>
          <a:prstGeom prst="rect">
            <a:avLst/>
          </a:prstGeom>
          <a:solidFill>
            <a:srgbClr val="A68142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600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Champagne Gold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#D4AF37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1463040"/>
            <a:ext cx="2011680" cy="1371600"/>
          </a:xfrm>
          <a:prstGeom prst="rect">
            <a:avLst/>
          </a:prstGeom>
          <a:solidFill>
            <a:srgbClr val="A68142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600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Royal Bronze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#A68142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463040"/>
            <a:ext cx="2011680" cy="1371600"/>
          </a:xfrm>
          <a:prstGeom prst="rect">
            <a:avLst/>
          </a:prstGeom>
          <a:solidFill>
            <a:srgbClr val="FAF8F5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600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Warm Sand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#FAF8F5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52120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8142"/>
                </a:solidFill>
              </a:defRPr>
            </a:pPr>
            <a:r>
              <a:t>TYPOGRAPHY &amp; HIERARCHY STACK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Primary Display Font: Outfit (Bold 700/800) for commercial impact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Accent Serif Font: Cormorant Garamond for luxury titles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Body Font: Plus Jakarta Sans for high contrast readability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Dynamic Fluid Scaling: clamp(32px, 4vw, 52px)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Contrast Standard: AAA compliant white/gold text on obsidian dark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108960"/>
            <a:ext cx="52120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8142"/>
                </a:solidFill>
              </a:defRPr>
            </a:pPr>
            <a:r>
              <a:t>UI/UX COMPONENT PATTERNS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Glassmorphism: Backdrop blur (10px - 20px) on navigation &amp; modals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Live Activity Ticker: Top ticker showing real-time buyer signals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Responsive Grid: Flexbox + CSS Grid auto-fit minmax(320px, 1fr)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Micro-Interactions: Hover gold glows, smooth scroll &amp; scale transitions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Conversational AI: Floating bot widget anchored at bottom-right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WEBSITE NAVIGATION &amp; UTILITY HEADER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Header Elements, Ticker Bar &amp; Fast Conversion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1. LIVE BUYER ACTIVITY TICKER BAR (Top Banner)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• Real-time animated ticker displaying live buyer activity (e.g. 'Rahul M. booked VIP Site Visit 4m ago').</a:t>
            </a:r>
            <a:br/>
            <a:r>
              <a:t>   • Instant CTA button triggering VIP Site Visit Booking Modal.</a:t>
            </a:r>
          </a:p>
          <a:p>
            <a:br/>
            <a:pPr>
              <a:defRPr sz="1400" b="1">
                <a:solidFill>
                  <a:srgbClr val="A68142"/>
                </a:solidFill>
              </a:defRPr>
            </a:pPr>
            <a:r>
              <a:t>2. STICKY GLASSMORPHIC NAVIGATION BAR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• Brand Identity Badges: Dual logos for KB West Walk and Shree KB Group with RERA badge.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• Section Anchor Links: Smooth scrolling to Overview, Commercial Shops, Pricing, Amenities, Location, ROI &amp; Mall Management.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• Quick Action Buttons: 'DOWNLOAD PRICE LIST (PDF)', 'SEARCH', and 'BUYERS VAULT' (CRM shortcut).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   • Keyboard Accessibility: Skip to main content link (#main-content) for keyboard and screen-reader users.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HERO CANVAS &amp;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Hero Section UI/UX Layout &amp; Immediate Buyer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68580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6492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</a:defRPr>
            </a:pPr>
            <a:r>
              <a:t>✦ SHREE KUNJ BIHARIJI REALTY PVT. LTD. • RERA APPROVED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KB WEST WALK</a:t>
            </a:r>
          </a:p>
          <a:p>
            <a:pPr>
              <a:defRPr sz="1500">
                <a:solidFill>
                  <a:srgbClr val="A68142"/>
                </a:solidFill>
              </a:defRPr>
            </a:pPr>
            <a:r>
              <a:t>Every Step A Story • 5 Levels of AC Ventilated Shopping High-Street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High-Street Retail • Gourmet Food Court • Multiplex Cinema • Studio Suites</a:t>
            </a:r>
            <a:br/>
            <a:r>
              <a:t>Plot C-3, Ecotech-12, Greater Noida West | RERA Reg No: UPRERAPRJ422027/01/2026</a:t>
            </a:r>
          </a:p>
          <a:p>
            <a:br/>
            <a:pPr>
              <a:defRPr sz="1200" b="1">
                <a:solidFill>
                  <a:srgbClr val="A68142"/>
                </a:solidFill>
              </a:defRPr>
            </a:pPr>
            <a:r>
              <a:t>[ PRIMARY CTA: BOOK VIP SITE VISIT ]</a:t>
            </a:r>
            <a:br/>
            <a:r>
              <a:t>[ SECONDARY CTA: DOWNLOAD COST SHEET (PDF) ]</a:t>
            </a:r>
            <a:br/>
            <a:r>
              <a:t>[ TERTIARY CTA: VIEW FLOOR PLANS ]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463040"/>
            <a:ext cx="356616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4592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8142"/>
                </a:solidFill>
              </a:defRPr>
            </a:pPr>
            <a:r>
              <a:t>HERO KEY METRICS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Ventilated High-Street: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  5 Levels (Air-Conditioned Zones)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Prime High-Street Retail: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  LGF, GF &amp; 1st (Starting ₹24,900 / sq.ft.)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Multiplex &amp; Food Court: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  3rd, 4th &amp; 5th (Cinema &amp; Rooftop Dining)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Serviced Studio Suites: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  6th - 18th Floor (State-of-the-Art Suites)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FLOOR-BY-FLOOR COMMERCIAL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18-Level Vertical Mixed-Use Zoning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Lower Ground Floor (LGF) — BSP: ₹ 25,900 / Sq. Ft.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Hypermarket, Supermarket &amp; Electronics Anchor Outlets | High-footfall anchor floor connected via direct escalators and high-speed elevators.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10728655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Ground Floor (GF Boulevard) — BSP: ₹ 37,900 / Sq. Ft.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Boulevard Frontage Flagship High-Street Retail Shops | Double-height glass facade shops facing pedestrian promenade &amp; central atrium.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10728655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First Floor (1st Floor) — BSP: ₹ 24,900 / Sq. Ft.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Lifestyle, Fashion Apparel &amp; Consumer Arcades | Overlooking the skylight glass atrium with continuous shopper walkways.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43400"/>
            <a:ext cx="10728655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1655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3rd, 4th &amp; 5th Floors — BSP: Hospitality Zone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Gourmet Food Court, Rooftop Cafes &amp; 5-Screen Cinema | Multi-screen multiplex cinema with gourmet food court and open-air dining.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303520"/>
            <a:ext cx="10728655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6th to 18th Floors — BSP: Price On Request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Serviced Studio Suites &amp; Executive Workspaces | Luxury studio suites offering high rental yields and views of Greater Noida West.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COMMERCIAL TYPOLOGIES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Detailed Floor-Wise Retail &amp; Studio Unit Profiles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603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286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HIGH-VISIBILITY FRONTAGE STORES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Ground Floor Boulevard</a:t>
            </a:r>
          </a:p>
          <a:p>
            <a:pPr>
              <a:defRPr sz="1400" b="1">
                <a:solidFill>
                  <a:srgbClr val="A68142"/>
                </a:solidFill>
              </a:defRPr>
            </a:pPr>
            <a:r>
              <a:t>₹ 37,900 / Sq. Ft.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Premier Ground Floor retail shops facing pedestrian promenade and atrium. Maximum footfall.</a:t>
            </a:r>
            <a:br/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Atrium &amp; Street Frontage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Double Height Facades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AC Zone High-Street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463040"/>
            <a:ext cx="25603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600200"/>
            <a:ext cx="2286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HYPERMARKET ANCHOR OUTLETS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Lower Ground Floor</a:t>
            </a:r>
          </a:p>
          <a:p>
            <a:pPr>
              <a:defRPr sz="1400" b="1">
                <a:solidFill>
                  <a:srgbClr val="A68142"/>
                </a:solidFill>
              </a:defRPr>
            </a:pPr>
            <a:r>
              <a:t>₹ 25,900 / Sq. Ft.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Dedicated to anchor hypermarkets, electronics hubs, and daily utility convenience outlets.</a:t>
            </a:r>
            <a:br/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Direct Escalator Access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Designed for Anchor Stores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100% Power Backed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63040"/>
            <a:ext cx="25603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600200"/>
            <a:ext cx="2286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LIFESTYLE &amp; BRAND ARCADES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First Floor Fashion Arcades</a:t>
            </a:r>
          </a:p>
          <a:p>
            <a:pPr>
              <a:defRPr sz="1400" b="1">
                <a:solidFill>
                  <a:srgbClr val="A68142"/>
                </a:solidFill>
              </a:defRPr>
            </a:pPr>
            <a:r>
              <a:t>₹ 24,900 / Sq. Ft.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Vibrant floor dedicated to apparel, footwear, beauty salons, and gadget galleries.</a:t>
            </a:r>
            <a:br/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Central Atrium Views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High Shopper Walkways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Best Value Entry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3960" y="1463040"/>
            <a:ext cx="25603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00200"/>
            <a:ext cx="2286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SERVICED STUDIO APARTMENTS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Studio Suites (6th-18th)</a:t>
            </a:r>
          </a:p>
          <a:p>
            <a:pPr>
              <a:defRPr sz="1400" b="1">
                <a:solidFill>
                  <a:srgbClr val="A68142"/>
                </a:solidFill>
              </a:defRPr>
            </a:pPr>
            <a:r>
              <a:t>Price On Request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Modern studio apartments offering high rental yield, boutique amenities, and views.</a:t>
            </a:r>
            <a:br/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High Rental Yield Corridor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Separate Lifts Hoist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✓ Access to Cinema &amp; Dining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OFFICIAL COST SHEET &amp; PRICE LIST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Transparent RERA Pricing Schedule &amp; Bank Collection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8142"/>
                </a:solidFill>
              </a:defRPr>
            </a:pPr>
            <a:r>
              <a:t>OFFICIAL RETAIL BASE SELLING PRICE (BSP) SCHEDULE (w.e.f. July 12, 2026*)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[HIGH ROI RETAIL] Lower Ground Floor (LGF) — BSP: ₹ 25,900 / Sq. Ft.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Highlights: High Footfall Hypermarket &amp; Daily Convenience Anchor Stores</a:t>
            </a:r>
            <a:br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[PREMIUM FLAGSHIP] Ground Floor (GF) — BSP: ₹ 37,900 / Sq. Ft.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Highlights: Frontage Boulevard Flagship High-Street Retail Shops</a:t>
            </a:r>
            <a:br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[BEST VALUE ENTRY] First Floor (1st Floor) — BSP: ₹ 24,900 / Sq. Ft.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Highlights: Lifestyle, Fashion Apparel &amp; Consumer Experience Arcades</a:t>
            </a:r>
            <a:br/>
          </a:p>
          <a:p>
            <a:pPr>
              <a:defRPr sz="1300" b="1">
                <a:solidFill>
                  <a:srgbClr val="A68142"/>
                </a:solidFill>
              </a:defRPr>
            </a:pPr>
            <a:r>
              <a:t>OFFICIAL RERA COLLECTION BANK ACCOUNT DETAILS: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Account Name: Shree Kunj Bihariji Realty Pvt. Ltd. Collection Account for KB West Walk</a:t>
            </a:r>
            <a:br/>
            <a:r>
              <a:t>Bank: Axis Bank Ltd. | Account Number: 925020035796321</a:t>
            </a:r>
            <a:br/>
            <a:r>
              <a:t>IFSC Code: UTIB0005181 | Branch: Alpha II, Greater Noida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COMPLETE PAYMENT SCHEDULES &amp;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4 RERA Compliant Payment Options for Buyers &amp; Investors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57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MAXIMUM DISCOUNT &amp; ASSURED RETURNS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1. Down Payment Plan with Rent Assistance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Booking: 10%</a:t>
            </a:r>
            <a:br/>
            <a:r>
              <a:t>• Within 60 Days: 80%</a:t>
            </a:r>
            <a:br/>
            <a:r>
              <a:t>• On CC Applied: 10%</a:t>
            </a:r>
            <a:br/>
            <a:r>
              <a:t>Note: Immediate rental yield benefits during construction.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463040"/>
            <a:ext cx="5257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600200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POPULAR INVESTOR CHOICE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2. Special Payment Plan 1 (40 : 25 : 25)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Booking: 10%</a:t>
            </a:r>
            <a:br/>
            <a:r>
              <a:t>• Within 60 Days: 40%</a:t>
            </a:r>
            <a:br/>
            <a:r>
              <a:t>• On 6th Fl Slab: 25%</a:t>
            </a:r>
            <a:br/>
            <a:r>
              <a:t>• On CC Applied: 25%</a:t>
            </a:r>
            <a:br/>
            <a:r>
              <a:t>Note: Balanced liquidity management.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57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977640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FLEXIBLE STEP PAYMENT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3. Special Payment Plan 2 (30 : 20 : 20 : 20)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Booking: 10%</a:t>
            </a:r>
            <a:br/>
            <a:r>
              <a:t>• Within 60 Days: 30%</a:t>
            </a:r>
            <a:br/>
            <a:r>
              <a:t>• Ground Fl Slab: 20%</a:t>
            </a:r>
            <a:br/>
            <a:r>
              <a:t>• 6th Fl Slab: 20% | CC: 20%</a:t>
            </a:r>
            <a:br/>
            <a:r>
              <a:t>Note: Aligned with structure progress.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840480"/>
            <a:ext cx="5257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977640"/>
            <a:ext cx="4983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RERA MILESTONE STANDARD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4. Construction Linked Plan (CLP)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• Booking: 10% | 60 Days: 15%</a:t>
            </a:r>
            <a:br/>
            <a:r>
              <a:t>• Plinth: 15% | LGF Slab: 15%</a:t>
            </a:r>
            <a:br/>
            <a:r>
              <a:t>• 5th Fl: 10% | 10th Fl: 10%</a:t>
            </a:r>
            <a:br/>
            <a:r>
              <a:t>• 15th Fl: 10% | 18th Fl: 10% | CC: 5%</a:t>
            </a:r>
            <a:br/>
            <a:r>
              <a:t>Note: Maximum safety linked to civil progress.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COMMERCIAL INFRASTRUCTURE &amp; AMENITIES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6 Core Pillars of Retail, Entertainment &amp; Working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429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HIGH-STREET RETAIL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5-Level AC Shopping Arcade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Hybrid high-street &amp; atrium format with double height shops &amp; climate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463040"/>
            <a:ext cx="3429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0020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ENTERTAINMENT HUB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Multi-Screen Multiplex Cinema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State-of-the-art multi-screen cinema on 5th floor with gourmet stands.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0" y="1463040"/>
            <a:ext cx="3429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60020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GASTRONOMY &amp; NIGHTLIFE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Food Court &amp; Rooftop Dining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Expansive 3rd &amp; 4th floor food courts with QSR brands &amp; open-air rooftop dining.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3429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77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SERVICED LIVING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State-of-the-Art Studio Suites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Premium studio suites on 6th to 18th floors crafted for high rental yields.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3840480"/>
            <a:ext cx="3429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977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ARCHITECTURE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Double Height Glass Atrium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Skylight atrium ensuring natural light, open ventilation &amp; brand visibility.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3840480"/>
            <a:ext cx="3429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977640"/>
            <a:ext cx="3154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68142"/>
                </a:solidFill>
              </a:defRPr>
            </a:pPr>
            <a:r>
              <a:t>INFRASTRUCTURE</a:t>
            </a:r>
          </a:p>
          <a:p>
            <a:pPr>
              <a:defRPr sz="1500" b="1">
                <a:solidFill>
                  <a:srgbClr val="0F172A"/>
                </a:solidFill>
              </a:defRPr>
            </a:pPr>
            <a:r>
              <a:t>Basement Parking &amp; Security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Ample visitor parking, 24/7 CCTV surveillance &amp; 100% power backup.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LOCATION ADVANTAGE &amp; CONNECTIVITY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Plot C-3, Ecotech-12 Location Benchmarks &amp;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8142"/>
                </a:solidFill>
              </a:defRPr>
            </a:pPr>
            <a:r>
              <a:t>STRATEGIC HIGH-FOOTFALL COMMERCIAL HUB (ECOTECH-12, GREATER NOIDA WEST)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📍 Proposed Ecotech-12 Metro Station — Walking Distance (100 Meters) (Direct high-frequency commuter footfall destination)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📍 Char Murti / Gaur Chowk / Ek Murti — 5 mins (2.5 Km) (Major commercial crossroads of Greater Noida West)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📍 Crossings Republik Residential Hub — 5 mins (3.0 Km) (Dense captive residential shopper base)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📍 Noida-Gr. Noida Expressway &amp; NH-24 — 10 mins (6.0 Km) (Seamless regional expressway connectivity)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📍 Fortis &amp; Max Super Speciality Hospital — 10 mins (7.5 Km) (Healthcare hub proximity)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📍 Hindon Airport (Ghaziabad) — 25 mins (25.0 Km) (Regional airport connectivity)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📍 Jewar International Airport (Noida Int.) — 45 mins (48.0 Km) (Upcoming international aviation growth corridor)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INTERACTIVE PROPERTY FINDER &amp; EMI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Website Commercial Space Finder &amp; Real-Time Loan Estimator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8142"/>
                </a:solidFill>
              </a:defRPr>
            </a:pPr>
            <a:r>
              <a:t>PROPERTY FINDER COMPONENT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Interactive Category Selector: Retail Shops, Food Court/Cinema, Studio Suites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Budget Range Filter: Up to ₹50L, ₹50L-₹1Cr, ₹1Cr-₹3Cr, ₹3Cr+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View Orientation Filter: Atrium Facing, Boulevard Facing, Promenade View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Instant Dynamic Filtering with zero page reload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Direct CTAs: 'Request Unit Floor Plan' &amp; 'Schedule Site Visit'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120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8142"/>
                </a:solidFill>
              </a:defRPr>
            </a:pPr>
            <a:r>
              <a:t>REAL-TIME LOAN EMI CALCULATOR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Property Price Range Slider: ₹29.6 L to ₹6.00 Cr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Down Payment Percentage Selector: 10% to 50%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Loan Tenure Selector: 10, 15, 20, 25, 30 Years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Interest Rate Input: Customizable e.g. 8.5% p.a.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Live Monthly EMI Output Calculation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Direct CTA: 'Apply for Bank Subvention Plan'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CAPITAL ROI &amp; GROWTH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Commercial Investment Yield Benchmarks &amp; Growth Corridor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8142"/>
                </a:solidFill>
              </a:defRPr>
            </a:pPr>
            <a:r>
              <a:t>INVESTMENT ROI BENCHMARKS &amp; MARKET PROJECTIONS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Commercial Rental Yield: 7.5% – 9.2% P.A.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High commercial rental yield corridor in Greater Noida West.</a:t>
            </a:r>
            <a:br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YoY Capital Appreciation: +21.2% YoY Growth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Ranked among top 3 commercial retail appreciation hubs in NCR.</a:t>
            </a:r>
            <a:br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Cumulative 3-Year Appreciation: +38% to +48%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Projected growth upon completion of Ecotech-12 metro &amp; Jewar airport.</a:t>
            </a:r>
            <a:br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Ecotech-12 Locality Rating: 92 / 100 (4.9/5 Stars)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Verified benchmark by leading real estate analytics platforms.</a:t>
            </a:r>
            <a:br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Captive Consumer Footfall: 1,00,000+ Apartments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   Surrounded by high-density occupied residential sectors.</a:t>
            </a:r>
            <a:b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DEDICATED MALL &amp; FACILITY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Commercial Excellence &amp; Professional Facility Upkeep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57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68142"/>
                </a:solidFill>
              </a:defRPr>
            </a:pPr>
            <a:r>
              <a:t>Dedicated Retail Concierge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24/7 commercial desk assistance for store owners, corporate tenants &amp; visitor management.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463040"/>
            <a:ext cx="5257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4592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68142"/>
                </a:solidFill>
              </a:defRPr>
            </a:pPr>
            <a:r>
              <a:t>Professional Mall Management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Comprehensive facility upkeep, central HVAC climate maintenance &amp; security marshals.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57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68142"/>
                </a:solidFill>
              </a:defRPr>
            </a:pPr>
            <a:r>
              <a:t>Multi-Level Valet &amp; VIP Parking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Seamless valet arrival, automated parking guidance &amp; reserved executive parking.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840480"/>
            <a:ext cx="52578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233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68142"/>
                </a:solidFill>
              </a:defRPr>
            </a:pPr>
            <a:r>
              <a:t>Leasing &amp; Tenant Brand Support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Dedicated support for brand tie-ups, retail leasing &amp; rental management.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INTERACTIVE MODAL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8 High-Converting Website Overlay Modals &amp; Drawers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57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01. SiteVisitModal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VIP Chauffeur booking, captcha verification &amp; instant VIP Pass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371600"/>
            <a:ext cx="5257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02. FloorPlanModal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Architectural schematic blueprints, area specs &amp; floor plan tab swapper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5257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03. BrochureModal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E-Brochure &amp; Price List PDF email/WhatsApp instant download gate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606040"/>
            <a:ext cx="5257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69748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04. ConciergeModal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Private commercial advisory call request &amp; topic selection menu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5257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05. SiteMapModal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Master site plan layout &amp; campus zone hotspot explorer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840480"/>
            <a:ext cx="5257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93192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06. VirtualTourModal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Immersive 360° virtual walkthrough &amp; Meta Quest VR home demo 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74920"/>
            <a:ext cx="5257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6636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07. DetailDrawer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Technical specifications drawer (RCC frame, lifts, HVAC, power backup)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5074920"/>
            <a:ext cx="52578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5166360"/>
            <a:ext cx="4983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08. SearchModal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Instant site-wide search across shops, food court, location &amp; documents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CONVERSATIONAL AI BOT (KB CONCIERGE)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Google Gemini Integration with Live Search Grounding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8142"/>
                </a:solidFill>
              </a:defRPr>
            </a:pPr>
            <a:r>
              <a:t>GEMINI SERVICE ARCHITECTURE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API Integration: REST API v1beta via askGemini()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Sequential Model Fallback: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1. gemini-3.6-flash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2. gemini-3.5-flash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3. gemini-flash-latest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Live Google Search Grounding: Enabled via tools: [{ googleSearch: {} }]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Asterisks-Free Formatting: Automatic regex stripping of * symbols for clean text output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Conversation Memory: Retains last 6 conversation turns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120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8142"/>
                </a:solidFill>
              </a:defRPr>
            </a:pPr>
            <a:r>
              <a:t>FLOATING BOT WIDGET CAPABILITIES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Warm Interactive Greeting with 4 Option Chips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🎯 Commercial Property Matchmaker Tool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🚗 VIP On-Site Guided Walkthrough Request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📊 Market Trends &amp; Rental Yield Estimator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📐 Retail Shop &amp; Studio Suite Layout Viewer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Text-to-Speech (TTS) Voice Synthesis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Direct Callback Request &amp; Lead Dispatch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BUYER LEAD VAULT &amp; CRM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100-Point Scoring, Vault Storage &amp; Instant CSV Export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2120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8142"/>
                </a:solidFill>
              </a:defRPr>
            </a:pPr>
            <a:r>
              <a:t>LEAD DISPATCH &amp; SCORING UTILITY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Vault Storage: localStorage ('kb_west_walk_leads_vault')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100-Point Quality Scoring (calculateBuyerScore):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Deducts 50 pts for temp emails or dummy phone numbers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Adds 10-15 pts for chauffeur requests &amp; ready capital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Buyer Tiers: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VIP Commercial Investor (90+ score)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High Intent Buyer (70+ score)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- Standard Prospect (&lt;70 score)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Multi-CRM Endpoints: Web3Forms &amp; FormSubmit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2120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68142"/>
                </a:solidFill>
              </a:defRPr>
            </a:pPr>
            <a:r>
              <a:t>BUYER LEADS VAULT MODAL (Ctrl+Shift+L)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Global Shortcut: Ctrl + Shift + L or Cmd + Shift + L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Real-Time Metrics Strip: Total Leads, VIP Count, High Intent Count, Avg Score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Search &amp; Tier Filter: Instant filter by buyer name, phone, email, or source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One-Click CSV Export: exportLeadsToCSV() downloads formatted CSV file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Copy-to-Clipboard Phone: Quick click to copy buyer contact number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68142"/>
                </a:solidFill>
                <a:latin typeface="Arial"/>
              </a:defRPr>
            </a:pPr>
            <a:r>
              <a:t>SEO, PERFORMANCE &amp; ACCESSIBILITY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Production React 19 + Vite 8 Technical Optimizations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728655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✓ Dynamic SEO Head (SEOHead.jsx)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Dynamically manipulates document title, meta description, and OpenGraph tags based on active modal view states.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10728655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✓ Rich JSON-LD Schema (index.html)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Schema.org graph embedding RealEstateListing, CommercialRealEstate, Organization, Place, Offer &amp; FAQPage.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10728655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✓ Accessibility (WCAG Compliant)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Skip link (#main-content), role='dialog', aria-modal='true', aria-label &amp; global Escape key closer across all 8 modals.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43400"/>
            <a:ext cx="10728655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1655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✓ Production Vite 8 Build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Ultra-fast 1.08s build time, 1879 modules transformed, clean bundle chunks with zero bloat.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303520"/>
            <a:ext cx="10728655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1036289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68142"/>
                </a:solidFill>
              </a:defRPr>
            </a:pPr>
            <a:r>
              <a:t>✓ Cross-Browser &amp; Mobile Optimized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   Tested across desktop, tablet, and mobile breakpoints with touch-friendly controls.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FFF"/>
          </a:solidFill>
          <a:ln w="19050">
            <a:solidFill>
              <a:srgbClr val="A68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68142"/>
                </a:solidFill>
              </a:defRPr>
            </a:pPr>
            <a:r>
              <a:t>BUYER ONBOARDING JOURNEY &amp; CONTACT INFORMATION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Step 01: Project &amp; Price Sheet Consultation — Review BSP rates, unit availability &amp; floor plan placement.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Step 02: VIP On-Site Walkthrough — Visit site office at Plot C-3, Ecotech-12 for guided walkthrough &amp; 3D model demo.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Step 03: Payment Plan Customization — Select between Down Payment with Rent Assistance, Special 40:25:25, or CLP.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Step 04: Official RERA Booking — Secure shop or studio unit with 10% booking amount paid to Axis Bank Collection Account.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📍 SITE OFFICE: Plot No. C-3, Ecotech-12, Greater Noida West - 201318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🏢 CORPORATE OFFICE: FF-39, First Floor, KB Complex, Plot No. LS-1, Alpha-2, Greater Noida, U.P. 201310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📞 HELPLINE: +91 828 7777 333 | WHATSAPP: +91 828 7777 333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